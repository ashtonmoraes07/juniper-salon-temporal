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6d769aa974368" /><Relationship Type="http://schemas.openxmlformats.org/officeDocument/2006/relationships/extended-properties" Target="/docProps/app.xml" Id="R0e545175ebe64d53" /><Relationship Type="http://schemas.openxmlformats.org/officeDocument/2006/relationships/officeDocument" Target="/ppt/presentation.xml" Id="R05c7da1c186847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cbf1c6a9644e1"/>
  </p:sldMasterIdLst>
  <p:notesMasterIdLst>
    <p:notesMasterId xmlns:r="http://schemas.openxmlformats.org/officeDocument/2006/relationships" r:id="Ra0e5a19b1970475c"/>
  </p:notesMasterIdLst>
  <p:sldIdLst>
    <p:sldId xmlns:r="http://schemas.openxmlformats.org/officeDocument/2006/relationships" id="256" r:id="R6faf45389fbf4a0f"/>
    <p:sldId xmlns:r="http://schemas.openxmlformats.org/officeDocument/2006/relationships" id="257" r:id="R26994ae0c67a46e3"/>
    <p:sldId xmlns:r="http://schemas.openxmlformats.org/officeDocument/2006/relationships" id="258" r:id="R44e7aac2eb264a5a"/>
    <p:sldId xmlns:r="http://schemas.openxmlformats.org/officeDocument/2006/relationships" id="259" r:id="Reddba3feb84d40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9b76edb44e4fe1" /><Relationship Type="http://schemas.openxmlformats.org/officeDocument/2006/relationships/slideMaster" Target="/ppt/slideMasters/slideMaster1.xml" Id="R3a1cbf1c6a9644e1" /><Relationship Type="http://schemas.openxmlformats.org/officeDocument/2006/relationships/notesMaster" Target="/ppt/notesMasters/notesMaster1.xml" Id="Ra0e5a19b1970475c" /><Relationship Type="http://schemas.openxmlformats.org/officeDocument/2006/relationships/presProps" Target="/ppt/presProps.xml" Id="R5b213bdfa82e44d3" /><Relationship Type="http://schemas.openxmlformats.org/officeDocument/2006/relationships/tableStyles" Target="/ppt/tableStyles.xml" Id="R426d7d7c3bd5492a" /><Relationship Type="http://schemas.openxmlformats.org/officeDocument/2006/relationships/slide" Target="/ppt/slides/slide1.xml" Id="R6faf45389fbf4a0f" /><Relationship Type="http://schemas.openxmlformats.org/officeDocument/2006/relationships/slide" Target="/ppt/slides/slide2.xml" Id="R26994ae0c67a46e3" /><Relationship Type="http://schemas.openxmlformats.org/officeDocument/2006/relationships/slide" Target="/ppt/slides/slide3.xml" Id="R44e7aac2eb264a5a" /><Relationship Type="http://schemas.openxmlformats.org/officeDocument/2006/relationships/slide" Target="/ppt/slides/slide4.xml" Id="Reddba3feb84d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d5e72b7c3e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c23e97dae4848" /><Relationship Type="http://schemas.openxmlformats.org/officeDocument/2006/relationships/notesMaster" Target="/ppt/notesMasters/notesMaster1.xml" Id="R3cd6c58dc3e24e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ae58c76e3c45cd" /><Relationship Type="http://schemas.openxmlformats.org/officeDocument/2006/relationships/notesMaster" Target="/ppt/notesMasters/notesMaster1.xml" Id="R7b0dba07211b44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41255ff3054ea0" /><Relationship Type="http://schemas.openxmlformats.org/officeDocument/2006/relationships/notesMaster" Target="/ppt/notesMasters/notesMaster1.xml" Id="Ra4a6419d135045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acd4d04119453e" /><Relationship Type="http://schemas.openxmlformats.org/officeDocument/2006/relationships/notesMaster" Target="/ppt/notesMasters/notesMaster1.xml" Id="R5d14190bd5c1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BUSINESS_NEEDS.md, sections Business Problem, Current Process, Business Rules, Desired Outcomes, Measurable Success Criteria, and Confirmation Record. REQUIREMENTS_HANDOFF.md, RQ-02 through RQ-10. No numeric business impact is claimed because baselines and targets remain unknown.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docs/approved-mvp-spec.md, Scope and outcome and Temporal contract. src/domain.ts for eligibility and ordering. src/workflows.ts for sequential offer control, timer, Updates, Query, and booking flow. evidence/juniper-dashboard.png is a static interface preview and does not prove runtime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PROTOTYPE_SETUP_LOG.md, resumed Temporal validation. README.md, Capability truth table. src/workflows.ts, src/activities.ts, and tests/workflow.test.ts. Five Workflow scenarios passed with Temporal's official time-skipping test server after using a precompiled JavaScript bundle to avoid the managed host's SWC native-cache restriction. This is not a Docker-backed browser end-to-end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Capability truth table and explicit exclusions. BUSINESS_NEEDS.md, quantitative measures requiring baselines and targets. REQUIREMENTS_HANDOFF.md, constraints and downstream validation focus. The proposed pilot is a recommendation, not a confirmed customer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bdbeb53f54f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ec1ddeb174d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6443b2ad04f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86bf9455545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9d71572ed42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f89e46ffe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EFC5A6-B4B1-47AB-B274-B7EC0BB49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0D1DCC-6E10-43D5-AFDD-7C5AE13005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BE5D9C-42A3-4711-8535-4A0E21588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6F767C-9486-493F-97CB-2D3A9DE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387E42-1A5F-4C8E-A1EB-32BD58BAF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DA596F-5AEB-4BDE-9A22-C621C1A5D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5EB1E2-ECEB-4621-B8AA-5973E11E7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B2E166-7B57-410F-89DF-1FA719242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DEAA51-04B7-407C-9EB4-1F4168D59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0391B-6224-4A9D-AC37-F2B574319E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8d9bb3d744da1" /><Relationship Type="http://schemas.openxmlformats.org/officeDocument/2006/relationships/slideLayout" Target="/ppt/slideLayouts/slideLayout1.xml" Id="Rc83f0f4b9cd64b41" /><Relationship Type="http://schemas.openxmlformats.org/officeDocument/2006/relationships/slideLayout" Target="/ppt/slideLayouts/slideLayout2.xml" Id="R1ba5e7f46af241ae" /><Relationship Type="http://schemas.openxmlformats.org/officeDocument/2006/relationships/slideLayout" Target="/ppt/slideLayouts/slideLayout3.xml" Id="Ra117e027f280428d" /><Relationship Type="http://schemas.openxmlformats.org/officeDocument/2006/relationships/slideLayout" Target="/ppt/slideLayouts/slideLayout4.xml" Id="Rbf7026aa23ff4f2a" /><Relationship Type="http://schemas.openxmlformats.org/officeDocument/2006/relationships/slideLayout" Target="/ppt/slideLayouts/slideLayout5.xml" Id="R988e7a661ba44d7a" /><Relationship Type="http://schemas.openxmlformats.org/officeDocument/2006/relationships/slideLayout" Target="/ppt/slideLayouts/slideLayout6.xml" Id="R9467a5259cb6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f0f4b9cd64b41"/>
    <p:sldLayoutId xmlns:r="http://schemas.openxmlformats.org/officeDocument/2006/relationships" id="2147483650" r:id="R1ba5e7f46af241ae"/>
    <p:sldLayoutId xmlns:r="http://schemas.openxmlformats.org/officeDocument/2006/relationships" id="2147483651" r:id="Ra117e027f280428d"/>
    <p:sldLayoutId xmlns:r="http://schemas.openxmlformats.org/officeDocument/2006/relationships" id="2147483652" r:id="Rbf7026aa23ff4f2a"/>
    <p:sldLayoutId xmlns:r="http://schemas.openxmlformats.org/officeDocument/2006/relationships" id="2147483653" r:id="R988e7a661ba44d7a"/>
    <p:sldLayoutId xmlns:r="http://schemas.openxmlformats.org/officeDocument/2006/relationships" id="2147483654" r:id="R9467a5259cb6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43667b9744048" /><Relationship Type="http://schemas.openxmlformats.org/officeDocument/2006/relationships/notesSlide" Target="/ppt/notesSlides/notesSlide1.xml" Id="Re5d18c923d694d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dcb3e479d40f4" /><Relationship Type="http://schemas.openxmlformats.org/officeDocument/2006/relationships/image" Target="/ppt/media/image.png" Id="R97b18bdb4ccd4a20" /><Relationship Type="http://schemas.openxmlformats.org/officeDocument/2006/relationships/notesSlide" Target="/ppt/notesSlides/notesSlide2.xml" Id="R0c74ddd55ca647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76c00cdff4b87" /><Relationship Type="http://schemas.openxmlformats.org/officeDocument/2006/relationships/notesSlide" Target="/ppt/notesSlides/notesSlide3.xml" Id="R37b047dfe5e6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2a4969d38430d" /><Relationship Type="http://schemas.openxmlformats.org/officeDocument/2006/relationships/notesSlide" Target="/ppt/notesSlides/notesSlide4.xml" Id="R4d9f353d9e7b49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261A4-AA44-4CDF-B171-26B8B04E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D366B-B308-4F1C-BF51-1ABCBEDB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JUNIPER SALON CANCELLATION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A15A3-C274-4FA6-8D57-59F6318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73E34"/>
                </a:solidFill>
                <a:latin typeface="Georgia"/>
                <a:ea typeface="Georgia"/>
                <a:cs typeface="Georgia"/>
              </a:rPr>
              <a:t>Cancellation gaps create a race against the clock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91A2A-B405-4299-B438-8060281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Staff currently check a spreadsheet, match suitable clients, and manage replies by text while an open appointment may remain unfilled.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24823-42CE-46D3-9FFC-52A84C5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49AD8-F6EB-4C18-B172-3BE49605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728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72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2827B"/>
                </a:solidFill>
                <a:latin typeface="Arial"/>
                <a:ea typeface="Arial"/>
                <a:cs typeface="Arial"/>
              </a:rPr>
              <a:t>The first useful solution must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DE572-24F4-47A8-8FFD-5DC3234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2F"/>
                </a:solidFill>
                <a:latin typeface="Arial"/>
                <a:ea typeface="Arial"/>
                <a:cs typeface="Arial"/>
              </a:rPr>
              <a:t>Offer one slot to one eligible client at a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40FC4-87B4-4860-9A41-49ACD13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2F"/>
                </a:solidFill>
                <a:latin typeface="Arial"/>
                <a:ea typeface="Arial"/>
                <a:cs typeface="Arial"/>
              </a:rPr>
              <a:t>Keep the oldest eligible client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CA280-80A0-4461-816C-B22BB33E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2F"/>
                </a:solidFill>
                <a:latin typeface="Arial"/>
                <a:ea typeface="Arial"/>
                <a:cs typeface="Arial"/>
              </a:rPr>
              <a:t>Show failures and resume without losing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2AC01-4DFC-44FE-A2D3-0C9F43AE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4343400" cy="4876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73E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E2F1B-BF03-49A0-87E2-422E78C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52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A18C"/>
                </a:solidFill>
                <a:latin typeface="Arial"/>
                <a:ea typeface="Arial"/>
                <a:cs typeface="Arial"/>
              </a:rPr>
              <a:t>SAME-DAY RESPONSE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FC892-4B57-447E-9976-443688E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15 minutes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29B55-1822-48C4-874D-43B0D160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54110-E0C0-4518-9554-4EA3115E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A18C"/>
                </a:solidFill>
                <a:latin typeface="Arial"/>
                <a:ea typeface="Arial"/>
                <a:cs typeface="Arial"/>
              </a:rPr>
              <a:t>ACTIVE OFFERS PER OPENING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5F4D7-C5AA-482F-85C6-28DAD476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3D827-336A-43D3-9879-2927DD73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B0189-DBFC-4D83-B324-AE3F243E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338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9A18C"/>
                </a:solidFill>
                <a:latin typeface="Arial"/>
                <a:ea typeface="Arial"/>
                <a:cs typeface="Arial"/>
              </a:rPr>
              <a:t>FAIRNESS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8912B-8DD7-4AC2-8F01-2933D66F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Oldest eligible client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E75E1-E4A4-4EAB-B108-78B90A0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C5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C5D7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5D7CE"/>
                </a:solidFill>
                <a:latin typeface="Arial"/>
                <a:ea typeface="Arial"/>
                <a:cs typeface="Arial"/>
              </a:rPr>
              <a:t>Customer summary supplied by the user. Direct written confirmation from Lena remains unrecorded.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FFB4B-6133-40DC-A010-893863D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0CCCA-F3FF-4A72-B4DD-F64CE2D5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827B"/>
                </a:solidFill>
                <a:latin typeface="Arial"/>
                <a:ea typeface="Arial"/>
                <a:cs typeface="Arial"/>
              </a:rPr>
              <a:t>Evidence current as of October 6,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6331B-8EA8-444B-A32D-857BF1D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8007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87075-D938-4910-B8A4-EA40ED8E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PROTOTYPE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616BD-6A5C-4BCA-8C17-41246ADF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3E34"/>
                </a:solidFill>
                <a:latin typeface="Georgia"/>
                <a:ea typeface="Georgia"/>
                <a:cs typeface="Georgia"/>
              </a:rPr>
              <a:t>One durable process coordinates each cancellation 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2059C-1C46-4BA6-8835-6BA902CB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F4190-55A6-4A81-8AEB-9BE0906F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66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9A75C-A487-4EC5-B11F-8CD9DBB6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907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Filter by service, stylist, and availability. Order by waitlist join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D4F46-DB76-4601-BBBB-0AEDC14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62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95974-D023-4FA5-B446-468D0DE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5E4FF-403F-4A92-A835-FBB4D7F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3B47C-6EF4-44E4-94A5-124E6951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Contact the oldest eligible client and keep only one offer active.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07DE7-614D-4109-ACE0-10C4974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3F11C-70B2-49D2-9AC1-0132FC5B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1F878-C24F-4BF5-9095-FDB3A524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48EA3-645C-45F2-9E10-9EE833A6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Record accept or decline. A durable timer advances after the response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AB71F-AB2D-4A49-90E7-2F4CA1A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434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A82DD-AEF7-4C85-A275-90368889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EB9F6-772E-4B6D-A23E-C6FD097A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38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Book or continue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71C58-EA07-46B0-A159-E78D954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625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Book once on acceptance. Otherwise move to the next eligible client.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A44F0-6477-4579-9FA0-3842929F27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18bdb4ccd4a20"/>
          <a:srcRect xmlns:a="http://schemas.openxmlformats.org/drawingml/2006/main" l="0" t="0" r="0" b="10000"/>
          <a:stretch xmlns:a="http://schemas.openxmlformats.org/drawingml/2006/main"/>
        </p:blipFill>
        <p:spPr>
          <a:xfrm xmlns:a="http://schemas.openxmlformats.org/drawingml/2006/main">
            <a:off x="5753100" y="1581150"/>
            <a:ext cx="5829300" cy="440055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41315-D74E-41B6-8934-557635F4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81650"/>
            <a:ext cx="5391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1E6F5-6A3E-478C-A2ED-F05AF027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29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750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55E50"/>
                </a:solidFill>
                <a:latin typeface="Arial"/>
                <a:ea typeface="Arial"/>
                <a:cs typeface="Arial"/>
              </a:rPr>
              <a:t>Interface preview. The image shows the ready state, not a completed Temporal execution.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F7519-A206-4F7A-8193-69E7E3AD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53A30-37B6-418A-90C5-8A94779E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827B"/>
                </a:solidFill>
                <a:latin typeface="Arial"/>
                <a:ea typeface="Arial"/>
                <a:cs typeface="Arial"/>
              </a:rPr>
              <a:t>Evidence current as of October 6,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FE134-AC66-4806-8FEB-7D406EF0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9107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E06B5-7292-4462-90D2-A63F3C3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TEMPORAL 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53809-210D-4B2B-BCCF-F5BCB8DE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3E34"/>
                </a:solidFill>
                <a:latin typeface="Georgia"/>
                <a:ea typeface="Georgia"/>
                <a:cs typeface="Georgia"/>
              </a:rPr>
              <a:t>Durable orchestration addresses the failure points in the current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7B5AE-73AE-40B3-ACE2-762D4C1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TEMPORAL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28FC7-B69E-40C7-8D95-00CFB363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BUSINESS EFFECT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B49CC-C337-472D-BE72-844F617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72551-27E4-4CF7-9028-C1CAD39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Workflow state and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7ADD2-03C2-4A55-BADB-03C3282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Preserves the current client, prior responses, and recovery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B9014-323F-4CFB-8357-3CAA026F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0C92A-A003-4936-822C-0FB878B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Durable response timer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1A14F-3566-4DD6-928C-8147E13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Moves outreach forward when a client does not answer in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C1667-B238-4066-964F-99C5449F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4B087-26C0-4559-9829-D60B863A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Activity retries and operator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48260-60F5-4D5C-BD1E-B0A2ACF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Retries transient send failures and gives staff a visible recovery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B35E1-EAA6-42CF-929E-26E399DF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AB1E1-2952-4294-B0FC-93CE03B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Stable IDs and idempotency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FBC3C-6DD4-4E85-BD2F-DF5CD22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Limits duplicate starts and repeated commands. Production booking still needs durable external storage.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3E874-A66E-42F7-BB01-B02D742A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447A8-1FAA-4AE4-B121-007AC49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A803C-16A8-478E-BF5C-59D9B31A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24550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3E574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E574F"/>
                </a:solidFill>
                <a:latin typeface="Arial"/>
                <a:ea typeface="Arial"/>
                <a:cs typeface="Arial"/>
              </a:rPr>
              <a:t>All nine tests passed: four offline checks plus five Temporal Workflow scenarios using the official time-skipping test server.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26240-3DC6-400A-B876-110A2256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4B8E3-C798-44C7-A515-66196C06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827B"/>
                </a:solidFill>
                <a:latin typeface="Arial"/>
                <a:ea typeface="Arial"/>
                <a:cs typeface="Arial"/>
              </a:rPr>
              <a:t>Verified locally: TypeScript, browser syntax, 4 offline tests, and 5 Temporal Workflow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DCC4B-CC74-423E-B5E1-2D7F26F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4904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8A05EA-C1E6-4204-A4EA-3589EB7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SCOPE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F4470-8448-410F-91B4-B2115583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E34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3E34"/>
                </a:solidFill>
                <a:latin typeface="Georgia"/>
                <a:ea typeface="Georgia"/>
                <a:cs typeface="Georgia"/>
              </a:rPr>
              <a:t>The prototype tests the orchestration concept, not production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03FAF-43D9-4F7D-A7F1-ABF159E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IMPLEMENTED IN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9D03D-0CFC-47DF-B2F6-925A116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5E50"/>
                </a:solidFill>
                <a:latin typeface="Arial"/>
                <a:ea typeface="Arial"/>
                <a:cs typeface="Arial"/>
              </a:rPr>
              <a:t>SIMULATED OR EXCLUDED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513BE-43A8-4A8F-8F70-DA480044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B4D19-4A1B-40C4-AC57-47C894A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E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83BA8-BF5C-42A0-A2DA-CE9622A3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58F93-F707-4500-8451-983C552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Eligibility and oldest-first ordering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5759A-9B9A-4BB8-AFC6-B45E22E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5D62B-E7A2-43AD-A71A-0B4CF79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One active offer and response deadline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34153-D3DC-4342-BE3D-62A4025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A5D2A-4293-4CD7-A5B9-2D3763C3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Accept, decline, skip, and recovery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354C5-4EBE-4DF4-AC69-DE0C253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692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92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2C6B3-68EE-4114-801D-F6ED7E55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Staff status Query and durable history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9DB3D-0AAC-454A-9A0C-E0EB0D7A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5E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78780-0D50-4AB8-A676-B4C6029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SMS delivery, calendar booking, and waitlist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07E22-1976-4C0F-AC4F-7630C83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5E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B37D3-1699-4C66-A2A0-0B7AD17A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Authentication, authorization, and persistent app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71695-63E4-4398-806F-6ECEA58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5E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A78AD-D244-4248-AD36-89FD76D2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14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Production scale, privacy, high availability, and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BC7D1-C0E9-4FB5-894A-A3C16CBD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55E5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5E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439F4-3D82-4ECC-AB9B-D9987AA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3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2F"/>
                </a:solidFill>
                <a:latin typeface="Arial"/>
                <a:ea typeface="Arial"/>
                <a:cs typeface="Arial"/>
              </a:rPr>
              <a:t>Measured improvement in fill time or staff effort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A1B6E-17CA-4F8A-B14C-1B17A62B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E3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D5695-4BB7-4671-8E31-1C4F459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9A1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9A18C"/>
                </a:solidFill>
                <a:latin typeface="Arial"/>
                <a:ea typeface="Arial"/>
                <a:cs typeface="Arial"/>
              </a:rPr>
              <a:t>Proposed 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7770B-EE20-4DC1-BB7B-19D07BB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Choose the first live boundary and run a measured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EF283-87BC-4174-8468-E33E5E1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D8E5D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8E5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E5DE"/>
                </a:solidFill>
                <a:latin typeface="Arial"/>
                <a:ea typeface="Arial"/>
                <a:cs typeface="Arial"/>
              </a:rPr>
              <a:t>Confirm SMS or booking first, record a baseline for time to fill and staff touches, then exercise success, timeout, recovery, and late-reply scenarios.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41F0F-E80F-498B-B393-305A978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4CDCC-EF40-4531-9FF6-ABB2EF4B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28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2827B"/>
                </a:solidFill>
                <a:latin typeface="Arial"/>
                <a:ea typeface="Arial"/>
                <a:cs typeface="Arial"/>
              </a:rPr>
              <a:t>Evidence current as of October 6,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13D4B-A44C-49CA-861B-E495C37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173E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E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173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2026-10-07T04:21:45.4590000Z</dcterms:created>
  <dcterms:modified xsi:type="dcterms:W3CDTF">2026-10-07T04:21:45.4590000Z</dcterms:modified>
</coreProperties>
</file>